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Arial Black" panose="020B0A04020102020204" pitchFamily="3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3uwxBzRL0yLPooavbK099YSWg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" name="Google Shape;4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" name="Google Shape;7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8" name="Google Shape;23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2" name="Google Shape;27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5b870519b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g3d5b870519b_1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3" name="Google Shape;343;g3d5b870519b_1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E3TP4pUdMSaBfzKr5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contact@hydpy.org" TargetMode="External"/><Relationship Id="rId5" Type="http://schemas.openxmlformats.org/officeDocument/2006/relationships/hyperlink" Target="mailto:|kalyanprsd@gmail.com" TargetMode="External"/><Relationship Id="rId4" Type="http://schemas.openxmlformats.org/officeDocument/2006/relationships/hyperlink" Target="mailto:bpkapkar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01168"/>
            <a:ext cx="2926080" cy="384048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0116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F0F1A"/>
                </a:solidFill>
                <a:latin typeface="Calibri"/>
                <a:ea typeface="Calibri"/>
                <a:cs typeface="Calibri"/>
                <a:sym typeface="Calibri"/>
              </a:rPr>
              <a:t>Nemotron 3 Super Meetup Contest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Overview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65760" y="1572768"/>
            <a:ext cx="4160520" cy="804672"/>
          </a:xfrm>
          <a:prstGeom prst="rect">
            <a:avLst/>
          </a:prstGeom>
          <a:solidFill>
            <a:srgbClr val="16213E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1572768"/>
            <a:ext cx="402336" cy="804672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65760" y="1572768"/>
            <a:ext cx="402336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A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0F0F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59536" y="1618488"/>
            <a:ext cx="3566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Community Benefits Navigator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800600" y="1572768"/>
            <a:ext cx="4160520" cy="804672"/>
          </a:xfrm>
          <a:prstGeom prst="rect">
            <a:avLst/>
          </a:prstGeom>
          <a:solidFill>
            <a:srgbClr val="16213E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800600" y="1572768"/>
            <a:ext cx="402336" cy="804672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800600" y="1572768"/>
            <a:ext cx="402336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A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0F0F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294376" y="1618488"/>
            <a:ext cx="3566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Open-Source Maintainer Copilot for Small Community Projects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65760" y="2560320"/>
            <a:ext cx="4160520" cy="804672"/>
          </a:xfrm>
          <a:prstGeom prst="rect">
            <a:avLst/>
          </a:prstGeom>
          <a:solidFill>
            <a:srgbClr val="16213E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65760" y="2560320"/>
            <a:ext cx="402336" cy="804672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365760" y="2560320"/>
            <a:ext cx="402336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A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0F0F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59536" y="2606040"/>
            <a:ext cx="3566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 Governance / Public Meeting Explainer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4800600" y="2560320"/>
            <a:ext cx="4160520" cy="804672"/>
          </a:xfrm>
          <a:prstGeom prst="rect">
            <a:avLst/>
          </a:prstGeom>
          <a:solidFill>
            <a:srgbClr val="16213E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4800600" y="2560320"/>
            <a:ext cx="402336" cy="804672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4800600" y="2560320"/>
            <a:ext cx="402336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A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0F0F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5294376" y="2606040"/>
            <a:ext cx="3566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Crisis Information and Resource Routing Assistant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65760" y="164592"/>
            <a:ext cx="502920" cy="502920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65760" y="164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F0F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005840" y="146304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Community Benefits Navigator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005840" y="66751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Track 1  ·  Part 1 of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74320" y="941832"/>
            <a:ext cx="4160520" cy="365760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33443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57200" y="1024128"/>
            <a:ext cx="3794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What to build: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57200" y="1298448"/>
            <a:ext cx="37947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Build an assistant that helps people understand and apply for public or nonprofit services: scholarships, legal aid, food support, health schemes, disability benefits, local grants, etc. A good version would ingest eligibility rules, FAQs, policy PDFs, and application checklists, then guide the user step by step in plain language. This fits Nemotron-3-Super well because it is designed for long-context reasoning and multi-step agentic workflows.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2"/>
          <p:cNvCxnSpPr/>
          <p:nvPr/>
        </p:nvCxnSpPr>
        <p:spPr>
          <a:xfrm>
            <a:off x="457200" y="2743200"/>
            <a:ext cx="3657600" cy="0"/>
          </a:xfrm>
          <a:prstGeom prst="straightConnector1">
            <a:avLst/>
          </a:prstGeom>
          <a:noFill/>
          <a:ln w="9525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p2"/>
          <p:cNvSpPr/>
          <p:nvPr/>
        </p:nvSpPr>
        <p:spPr>
          <a:xfrm>
            <a:off x="457200" y="2816352"/>
            <a:ext cx="3794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Why it helps the community: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57200" y="3090672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it reduces the gap between available support and people who actually manage to access it.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2"/>
          <p:cNvCxnSpPr/>
          <p:nvPr/>
        </p:nvCxnSpPr>
        <p:spPr>
          <a:xfrm>
            <a:off x="457200" y="3621024"/>
            <a:ext cx="3657600" cy="0"/>
          </a:xfrm>
          <a:prstGeom prst="straightConnector1">
            <a:avLst/>
          </a:prstGeom>
          <a:noFill/>
          <a:ln w="9525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" name="Google Shape;55;p2"/>
          <p:cNvSpPr/>
          <p:nvPr/>
        </p:nvSpPr>
        <p:spPr>
          <a:xfrm>
            <a:off x="457200" y="3694176"/>
            <a:ext cx="3794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B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66BBFF"/>
                </a:solidFill>
                <a:latin typeface="Calibri"/>
                <a:ea typeface="Calibri"/>
                <a:cs typeface="Calibri"/>
                <a:sym typeface="Calibri"/>
              </a:rPr>
              <a:t>Why this model fits: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57200" y="3968496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long policy docs + planning + tool use for form filling/checklists.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709160" y="941832"/>
            <a:ext cx="4160520" cy="365760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892040" y="1024128"/>
            <a:ext cx="3794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Rubric to judge it: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892040" y="1435608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074920" y="1303587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Eligibility accuracy: Does it correctly identify whether a person likely qualifies?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892040" y="1956816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074920" y="1761358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Groundedness: Are answers traceable to the source policy/doc?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892040" y="2478024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074920" y="2369428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Form-completion usefulness: Does it produce a practical checklist, not just a summary?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892040" y="2999232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074920" y="2798024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Safety: Does it avoid inventing legal/medical requirements?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892040" y="3520440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074920" y="3394719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Language accessibility: Is the output understandable to non-experts?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892040" y="4041648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074920" y="3943327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Escalation behavior: Does it clearly say when a human caseworker/lawyer is needed?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65760" y="164592"/>
            <a:ext cx="502920" cy="502920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65760" y="164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F0F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005840" y="146304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Community Benefits Navigator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005840" y="66751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Track 1  ·  Part 2 of 2  —  Success Metrics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74320" y="987552"/>
            <a:ext cx="8595360" cy="3547872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02920" y="10789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Success metrics: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02920" y="1527048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95006" y="1357865"/>
            <a:ext cx="3931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Top-1 eligibility recommendation accuracy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709160" y="1444752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3"/>
          <p:cNvCxnSpPr/>
          <p:nvPr/>
        </p:nvCxnSpPr>
        <p:spPr>
          <a:xfrm>
            <a:off x="502920" y="1956816"/>
            <a:ext cx="8138160" cy="0"/>
          </a:xfrm>
          <a:prstGeom prst="straightConnector1">
            <a:avLst/>
          </a:prstGeom>
          <a:noFill/>
          <a:ln w="9525" cap="flat" cmpd="sng">
            <a:solidFill>
              <a:srgbClr val="2A3A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3"/>
          <p:cNvSpPr/>
          <p:nvPr/>
        </p:nvSpPr>
        <p:spPr>
          <a:xfrm>
            <a:off x="502920" y="2093976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95006" y="1924793"/>
            <a:ext cx="3931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Citation coverage per answer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709160" y="2011680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3"/>
          <p:cNvCxnSpPr/>
          <p:nvPr/>
        </p:nvCxnSpPr>
        <p:spPr>
          <a:xfrm>
            <a:off x="502920" y="2523744"/>
            <a:ext cx="8138160" cy="0"/>
          </a:xfrm>
          <a:prstGeom prst="straightConnector1">
            <a:avLst/>
          </a:prstGeom>
          <a:noFill/>
          <a:ln w="9525" cap="flat" cmpd="sng">
            <a:solidFill>
              <a:srgbClr val="2A3A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3"/>
          <p:cNvSpPr/>
          <p:nvPr/>
        </p:nvSpPr>
        <p:spPr>
          <a:xfrm>
            <a:off x="502920" y="2660904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95006" y="2473471"/>
            <a:ext cx="3931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Hallucination rate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709160" y="2578608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3"/>
          <p:cNvCxnSpPr/>
          <p:nvPr/>
        </p:nvCxnSpPr>
        <p:spPr>
          <a:xfrm>
            <a:off x="502920" y="3090672"/>
            <a:ext cx="8138160" cy="0"/>
          </a:xfrm>
          <a:prstGeom prst="straightConnector1">
            <a:avLst/>
          </a:prstGeom>
          <a:noFill/>
          <a:ln w="9525" cap="flat" cmpd="sng">
            <a:solidFill>
              <a:srgbClr val="2A3A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3"/>
          <p:cNvSpPr/>
          <p:nvPr/>
        </p:nvSpPr>
        <p:spPr>
          <a:xfrm>
            <a:off x="502920" y="3227832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95006" y="3031286"/>
            <a:ext cx="3931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Completion rate of application checklists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709160" y="3145536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3"/>
          <p:cNvCxnSpPr/>
          <p:nvPr/>
        </p:nvCxnSpPr>
        <p:spPr>
          <a:xfrm>
            <a:off x="502920" y="3657600"/>
            <a:ext cx="8138160" cy="0"/>
          </a:xfrm>
          <a:prstGeom prst="straightConnector1">
            <a:avLst/>
          </a:prstGeom>
          <a:noFill/>
          <a:ln w="9525" cap="flat" cmpd="sng">
            <a:solidFill>
              <a:srgbClr val="2A3A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3"/>
          <p:cNvSpPr/>
          <p:nvPr/>
        </p:nvSpPr>
        <p:spPr>
          <a:xfrm>
            <a:off x="502920" y="3794760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95006" y="3589064"/>
            <a:ext cx="3931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User-rated clarity / trust score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709160" y="3712464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65760" y="164592"/>
            <a:ext cx="502920" cy="502920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65760" y="164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F0F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005840" y="146304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Open-Source Maintainer Copilot for Small Community Projects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005840" y="66751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Track 2  ·  Part 1 of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274320" y="941832"/>
            <a:ext cx="4160520" cy="365760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33443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57200" y="1024128"/>
            <a:ext cx="3794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What to build: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57200" y="1298448"/>
            <a:ext cx="37947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Create a GitHub helper for nonprofits, student groups, civic-tech teams, and small open-source projects. It can read issues, PRs, docs, and code, then help with triage, label suggestions, bug reproduction steps, release-note drafting, and newcomer onboarding. NVIDIA specifically highlights Nemotron-3-Super for coding, planning, tool calling, and collaborative-agent workloads, which makes this a natural fit.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4"/>
          <p:cNvCxnSpPr/>
          <p:nvPr/>
        </p:nvCxnSpPr>
        <p:spPr>
          <a:xfrm>
            <a:off x="457200" y="2743200"/>
            <a:ext cx="3657600" cy="0"/>
          </a:xfrm>
          <a:prstGeom prst="straightConnector1">
            <a:avLst/>
          </a:prstGeom>
          <a:noFill/>
          <a:ln w="9525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" name="Google Shape;118;p4"/>
          <p:cNvSpPr/>
          <p:nvPr/>
        </p:nvSpPr>
        <p:spPr>
          <a:xfrm>
            <a:off x="457200" y="2816352"/>
            <a:ext cx="3794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Why it helps the community: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57200" y="3090672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many useful public-interest repos die because maintainers burn out.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4"/>
          <p:cNvCxnSpPr/>
          <p:nvPr/>
        </p:nvCxnSpPr>
        <p:spPr>
          <a:xfrm>
            <a:off x="457200" y="3621024"/>
            <a:ext cx="3657600" cy="0"/>
          </a:xfrm>
          <a:prstGeom prst="straightConnector1">
            <a:avLst/>
          </a:prstGeom>
          <a:noFill/>
          <a:ln w="9525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1" name="Google Shape;121;p4"/>
          <p:cNvSpPr/>
          <p:nvPr/>
        </p:nvSpPr>
        <p:spPr>
          <a:xfrm>
            <a:off x="457200" y="3694176"/>
            <a:ext cx="3794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B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66BBFF"/>
                </a:solidFill>
                <a:latin typeface="Calibri"/>
                <a:ea typeface="Calibri"/>
                <a:cs typeface="Calibri"/>
                <a:sym typeface="Calibri"/>
              </a:rPr>
              <a:t>Why this model fits: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57200" y="3968496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it is meant for agentic coding workflows and long-horizon reasoning across many steps.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709160" y="941832"/>
            <a:ext cx="4160520" cy="365760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892040" y="1024128"/>
            <a:ext cx="3794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Rubric to judge it: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892040" y="1435608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074920" y="1248162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Issue triage quality: Are bug / feature / question categories correct?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892040" y="1956816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074920" y="1821945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Reproduction usefulness: Are generated repro steps actually actionable?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892040" y="2478024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074920" y="2319141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Codebase grounding: Does it reference the right files/functions?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892040" y="2999232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074920" y="2816336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PR review helpfulness: Are comments accurate and specific?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892040" y="3520440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074920" y="3403857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Newcomer friendliness: Does it lower the barrier for first-time contributors?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892040" y="4041648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074920" y="3890777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Automation reliability: Does it use tools safely without destructive actions?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65760" y="164592"/>
            <a:ext cx="502920" cy="502920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365760" y="164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F0F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005840" y="146304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Open-Source Maintainer Copilot for Small Community Projects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005840" y="66751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Track 2  ·  Part 2 of 2  —  Success Metrics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74320" y="987552"/>
            <a:ext cx="8595360" cy="3547872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02920" y="10789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Success metrics: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02920" y="1527048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94931" y="1335027"/>
            <a:ext cx="3931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 correct labels on incoming issues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709160" y="1444752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5"/>
          <p:cNvCxnSpPr/>
          <p:nvPr/>
        </p:nvCxnSpPr>
        <p:spPr>
          <a:xfrm>
            <a:off x="502920" y="1956816"/>
            <a:ext cx="8138160" cy="0"/>
          </a:xfrm>
          <a:prstGeom prst="straightConnector1">
            <a:avLst/>
          </a:prstGeom>
          <a:noFill/>
          <a:ln w="9525" cap="flat" cmpd="sng">
            <a:solidFill>
              <a:srgbClr val="2A3A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4" name="Google Shape;154;p5"/>
          <p:cNvSpPr/>
          <p:nvPr/>
        </p:nvSpPr>
        <p:spPr>
          <a:xfrm>
            <a:off x="502920" y="2093976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694931" y="1929393"/>
            <a:ext cx="3931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 accepted maintainer suggestions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709160" y="2011680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5"/>
          <p:cNvCxnSpPr/>
          <p:nvPr/>
        </p:nvCxnSpPr>
        <p:spPr>
          <a:xfrm>
            <a:off x="502920" y="2523744"/>
            <a:ext cx="8138160" cy="0"/>
          </a:xfrm>
          <a:prstGeom prst="straightConnector1">
            <a:avLst/>
          </a:prstGeom>
          <a:noFill/>
          <a:ln w="9525" cap="flat" cmpd="sng">
            <a:solidFill>
              <a:srgbClr val="2A3A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" name="Google Shape;158;p5"/>
          <p:cNvSpPr/>
          <p:nvPr/>
        </p:nvSpPr>
        <p:spPr>
          <a:xfrm>
            <a:off x="502920" y="2660904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95006" y="2432321"/>
            <a:ext cx="3931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 saved per issue/PR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709160" y="2578608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5"/>
          <p:cNvCxnSpPr/>
          <p:nvPr/>
        </p:nvCxnSpPr>
        <p:spPr>
          <a:xfrm>
            <a:off x="502920" y="3090672"/>
            <a:ext cx="8138160" cy="0"/>
          </a:xfrm>
          <a:prstGeom prst="straightConnector1">
            <a:avLst/>
          </a:prstGeom>
          <a:noFill/>
          <a:ln w="9525" cap="flat" cmpd="sng">
            <a:solidFill>
              <a:srgbClr val="2A3A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" name="Google Shape;162;p5"/>
          <p:cNvSpPr/>
          <p:nvPr/>
        </p:nvSpPr>
        <p:spPr>
          <a:xfrm>
            <a:off x="502920" y="3227832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694931" y="3044974"/>
            <a:ext cx="3931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First-time contributor success rate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709160" y="3145536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5"/>
          <p:cNvCxnSpPr/>
          <p:nvPr/>
        </p:nvCxnSpPr>
        <p:spPr>
          <a:xfrm>
            <a:off x="502920" y="3657600"/>
            <a:ext cx="8138160" cy="0"/>
          </a:xfrm>
          <a:prstGeom prst="straightConnector1">
            <a:avLst/>
          </a:prstGeom>
          <a:noFill/>
          <a:ln w="9525" cap="flat" cmpd="sng">
            <a:solidFill>
              <a:srgbClr val="2A3A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5"/>
          <p:cNvSpPr/>
          <p:nvPr/>
        </p:nvSpPr>
        <p:spPr>
          <a:xfrm>
            <a:off x="502920" y="3794760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94931" y="3621064"/>
            <a:ext cx="3931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False-positive automation rate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709160" y="3712464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65760" y="164592"/>
            <a:ext cx="502920" cy="502920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65760" y="164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F0F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1005840" y="146304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 Governance / Public Meeting Explainer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1005840" y="66751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Track 3  ·  Part 1 of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274320" y="941832"/>
            <a:ext cx="4160520" cy="365760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33443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57200" y="1024128"/>
            <a:ext cx="3794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What to build: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457200" y="1298448"/>
            <a:ext cx="37947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Build a system that ingests city council minutes, school board agendas, resident association notes, budget documents, and policy updates, then produces plain-language explanations: "What changed?", "Who is affected?", "What action can residents take?" The long-context window is valuable here because these records are often scattered and repetitive, and the model is built for reasoning over large document collections.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6"/>
          <p:cNvCxnSpPr/>
          <p:nvPr/>
        </p:nvCxnSpPr>
        <p:spPr>
          <a:xfrm>
            <a:off x="457200" y="2743200"/>
            <a:ext cx="3657600" cy="0"/>
          </a:xfrm>
          <a:prstGeom prst="straightConnector1">
            <a:avLst/>
          </a:prstGeom>
          <a:noFill/>
          <a:ln w="9525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" name="Google Shape;184;p6"/>
          <p:cNvSpPr/>
          <p:nvPr/>
        </p:nvSpPr>
        <p:spPr>
          <a:xfrm>
            <a:off x="457200" y="2816352"/>
            <a:ext cx="3794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Why it helps the community: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57200" y="3090672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local decisions are often opaque, even when technically public.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6"/>
          <p:cNvCxnSpPr/>
          <p:nvPr/>
        </p:nvCxnSpPr>
        <p:spPr>
          <a:xfrm>
            <a:off x="457200" y="3621024"/>
            <a:ext cx="3657600" cy="0"/>
          </a:xfrm>
          <a:prstGeom prst="straightConnector1">
            <a:avLst/>
          </a:prstGeom>
          <a:noFill/>
          <a:ln w="9525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7" name="Google Shape;187;p6"/>
          <p:cNvSpPr/>
          <p:nvPr/>
        </p:nvSpPr>
        <p:spPr>
          <a:xfrm>
            <a:off x="457200" y="3694176"/>
            <a:ext cx="3794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B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66BBFF"/>
                </a:solidFill>
                <a:latin typeface="Calibri"/>
                <a:ea typeface="Calibri"/>
                <a:cs typeface="Calibri"/>
                <a:sym typeface="Calibri"/>
              </a:rPr>
              <a:t>Why this model fits: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57200" y="3968496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long-context synthesis, planning, and multi-document reasoning.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709160" y="941832"/>
            <a:ext cx="4160520" cy="365760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892040" y="1024128"/>
            <a:ext cx="3794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Rubric to judge it: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892040" y="1435608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5159095" y="1305312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Factual faithfulness: Does it preserve what was actually said/approved?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892040" y="1956816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159095" y="1815083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Actionability: Does it clearly state deadlines, next meetings, or public-comment steps?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4892040" y="2478024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5159095" y="2322578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Bias control: Does it summarize neutrally?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892040" y="2999232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5159095" y="2818661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Coverage: Does it capture all major agenda items?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892040" y="3520440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5159095" y="3328419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Traceability: Can each claim be mapped back to meeting text/docs?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4892040" y="4041648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159095" y="3838202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Readability: Can an average resident understand it quickly?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365760" y="164592"/>
            <a:ext cx="502920" cy="502920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365760" y="164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F0F1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1005840" y="146304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 Governance / Public Meeting Explainer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1005840" y="66751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Track 3  ·  Part 2 of 2  —  Success Metrics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274320" y="987552"/>
            <a:ext cx="8595360" cy="3547872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502920" y="10789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Success metrics: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502920" y="1527048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777356" y="1357877"/>
            <a:ext cx="3931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Fact-consistency score versus source docs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4709160" y="1444752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7"/>
          <p:cNvCxnSpPr/>
          <p:nvPr/>
        </p:nvCxnSpPr>
        <p:spPr>
          <a:xfrm>
            <a:off x="502920" y="1956816"/>
            <a:ext cx="8138160" cy="0"/>
          </a:xfrm>
          <a:prstGeom prst="straightConnector1">
            <a:avLst/>
          </a:prstGeom>
          <a:noFill/>
          <a:ln w="9525" cap="flat" cmpd="sng">
            <a:solidFill>
              <a:srgbClr val="2A3A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0" name="Google Shape;220;p7"/>
          <p:cNvSpPr/>
          <p:nvPr/>
        </p:nvSpPr>
        <p:spPr>
          <a:xfrm>
            <a:off x="502920" y="2093976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777344" y="1940818"/>
            <a:ext cx="3931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Omission rate for major decisions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4709160" y="2011680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7"/>
          <p:cNvCxnSpPr/>
          <p:nvPr/>
        </p:nvCxnSpPr>
        <p:spPr>
          <a:xfrm>
            <a:off x="502920" y="2523744"/>
            <a:ext cx="8138160" cy="0"/>
          </a:xfrm>
          <a:prstGeom prst="straightConnector1">
            <a:avLst/>
          </a:prstGeom>
          <a:noFill/>
          <a:ln w="9525" cap="flat" cmpd="sng">
            <a:solidFill>
              <a:srgbClr val="2A3A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4" name="Google Shape;224;p7"/>
          <p:cNvSpPr/>
          <p:nvPr/>
        </p:nvSpPr>
        <p:spPr>
          <a:xfrm>
            <a:off x="502920" y="2660904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777281" y="2515758"/>
            <a:ext cx="3931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Reading-grade level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4709160" y="2578608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7"/>
          <p:cNvCxnSpPr/>
          <p:nvPr/>
        </p:nvCxnSpPr>
        <p:spPr>
          <a:xfrm>
            <a:off x="502920" y="3090672"/>
            <a:ext cx="8138160" cy="0"/>
          </a:xfrm>
          <a:prstGeom prst="straightConnector1">
            <a:avLst/>
          </a:prstGeom>
          <a:noFill/>
          <a:ln w="9525" cap="flat" cmpd="sng">
            <a:solidFill>
              <a:srgbClr val="2A3A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8" name="Google Shape;228;p7"/>
          <p:cNvSpPr/>
          <p:nvPr/>
        </p:nvSpPr>
        <p:spPr>
          <a:xfrm>
            <a:off x="502920" y="3227832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777281" y="3086686"/>
            <a:ext cx="3931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success on follow-up comprehension questions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4709160" y="3145536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7"/>
          <p:cNvCxnSpPr/>
          <p:nvPr/>
        </p:nvCxnSpPr>
        <p:spPr>
          <a:xfrm>
            <a:off x="502920" y="3657600"/>
            <a:ext cx="8138160" cy="0"/>
          </a:xfrm>
          <a:prstGeom prst="straightConnector1">
            <a:avLst/>
          </a:prstGeom>
          <a:noFill/>
          <a:ln w="9525" cap="flat" cmpd="sng">
            <a:solidFill>
              <a:srgbClr val="2A3A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2" name="Google Shape;232;p7"/>
          <p:cNvSpPr/>
          <p:nvPr/>
        </p:nvSpPr>
        <p:spPr>
          <a:xfrm>
            <a:off x="502920" y="3794760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825932" y="3630177"/>
            <a:ext cx="3931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 of claims with source references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4709160" y="3712464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365760" y="164592"/>
            <a:ext cx="502920" cy="502920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365760" y="164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F0F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1005840" y="146304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Crisis Information and Resource Routing Assistant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1005840" y="66751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Track 4  ·  Part 1 of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274320" y="941832"/>
            <a:ext cx="4160520" cy="365760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33443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457200" y="1024128"/>
            <a:ext cx="3794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What to build: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457200" y="1298448"/>
            <a:ext cx="37947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Build a community response assistant for floods, heatwaves, disease outbreaks, or regional emergencies. It can combine verified guidance, shelter/resource lists, school closures, transportation notices, and volunteer coordination info into a single conversational workflow. Nemotron-3-Super's agentic and tool-calling strengths are useful if the assistant needs to search trusted sources, deduplicate updates, and generate tailored action plans.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8"/>
          <p:cNvCxnSpPr/>
          <p:nvPr/>
        </p:nvCxnSpPr>
        <p:spPr>
          <a:xfrm>
            <a:off x="457200" y="2743200"/>
            <a:ext cx="3657600" cy="0"/>
          </a:xfrm>
          <a:prstGeom prst="straightConnector1">
            <a:avLst/>
          </a:prstGeom>
          <a:noFill/>
          <a:ln w="9525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0" name="Google Shape;250;p8"/>
          <p:cNvSpPr/>
          <p:nvPr/>
        </p:nvSpPr>
        <p:spPr>
          <a:xfrm>
            <a:off x="457200" y="2816352"/>
            <a:ext cx="3794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Why it helps the community: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457200" y="3090672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people need clear, fast, localized guidance during chaotic events.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p8"/>
          <p:cNvCxnSpPr/>
          <p:nvPr/>
        </p:nvCxnSpPr>
        <p:spPr>
          <a:xfrm>
            <a:off x="457200" y="3621024"/>
            <a:ext cx="3657600" cy="0"/>
          </a:xfrm>
          <a:prstGeom prst="straightConnector1">
            <a:avLst/>
          </a:prstGeom>
          <a:noFill/>
          <a:ln w="9525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3" name="Google Shape;253;p8"/>
          <p:cNvSpPr/>
          <p:nvPr/>
        </p:nvSpPr>
        <p:spPr>
          <a:xfrm>
            <a:off x="457200" y="3694176"/>
            <a:ext cx="3794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BB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66BBFF"/>
                </a:solidFill>
                <a:latin typeface="Calibri"/>
                <a:ea typeface="Calibri"/>
                <a:cs typeface="Calibri"/>
                <a:sym typeface="Calibri"/>
              </a:rPr>
              <a:t>Why this model fits: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457200" y="3968496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planning + tool use + handling lots of changing context.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4709160" y="941832"/>
            <a:ext cx="4160520" cy="365760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4892040" y="1024128"/>
            <a:ext cx="37947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Rubric to judge it: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892040" y="1435608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5168445" y="1248162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Timeliness: Does it reflect current verified information?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4892040" y="1956816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168445" y="1856233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Risk sensitivity: Does it prioritize urgent/safety-critical actions correctly?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4892040" y="2478024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5168445" y="2386578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Non-hallucination: Does it avoid inventing shelters, hotlines, or advisories?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4892040" y="2999232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5168445" y="2912374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Localization: Does it tailor guidance to the user's area and situation?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4892040" y="3520440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5168445" y="3435869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Fallback behavior: Does it tell users when information is uncertain or outdated?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4892040" y="4041648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168445" y="3959377"/>
            <a:ext cx="3657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Robustness under stress: Does performance hold for incomplete or messy inputs?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365760" y="164592"/>
            <a:ext cx="502920" cy="502920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365760" y="164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1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F0F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1005840" y="146304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Crisis Information and Resource Routing Assistant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1005840" y="66751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Track 4  ·  Part 2 of 2  —  Success Metrics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274320" y="987552"/>
            <a:ext cx="8595360" cy="3547872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502920" y="10789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Success metrics: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502920" y="1527048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777356" y="1335027"/>
            <a:ext cx="3931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Verified-resource precision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4709160" y="1444752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9"/>
          <p:cNvCxnSpPr/>
          <p:nvPr/>
        </p:nvCxnSpPr>
        <p:spPr>
          <a:xfrm>
            <a:off x="502920" y="1956816"/>
            <a:ext cx="8138160" cy="0"/>
          </a:xfrm>
          <a:prstGeom prst="straightConnector1">
            <a:avLst/>
          </a:prstGeom>
          <a:noFill/>
          <a:ln w="9525" cap="flat" cmpd="sng">
            <a:solidFill>
              <a:srgbClr val="2A3A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6" name="Google Shape;286;p9"/>
          <p:cNvSpPr/>
          <p:nvPr/>
        </p:nvSpPr>
        <p:spPr>
          <a:xfrm>
            <a:off x="502920" y="2093976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777356" y="1915668"/>
            <a:ext cx="3931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Time-to-answer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4709160" y="2011680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9"/>
          <p:cNvCxnSpPr/>
          <p:nvPr/>
        </p:nvCxnSpPr>
        <p:spPr>
          <a:xfrm>
            <a:off x="502920" y="2523744"/>
            <a:ext cx="8138160" cy="0"/>
          </a:xfrm>
          <a:prstGeom prst="straightConnector1">
            <a:avLst/>
          </a:prstGeom>
          <a:noFill/>
          <a:ln w="9525" cap="flat" cmpd="sng">
            <a:solidFill>
              <a:srgbClr val="2A3A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0" name="Google Shape;290;p9"/>
          <p:cNvSpPr/>
          <p:nvPr/>
        </p:nvSpPr>
        <p:spPr>
          <a:xfrm>
            <a:off x="502920" y="2660904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777356" y="2489458"/>
            <a:ext cx="3931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Crisis-action recommendation correctness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4709160" y="2578608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9"/>
          <p:cNvCxnSpPr/>
          <p:nvPr/>
        </p:nvCxnSpPr>
        <p:spPr>
          <a:xfrm>
            <a:off x="502920" y="3090672"/>
            <a:ext cx="8138160" cy="0"/>
          </a:xfrm>
          <a:prstGeom prst="straightConnector1">
            <a:avLst/>
          </a:prstGeom>
          <a:noFill/>
          <a:ln w="9525" cap="flat" cmpd="sng">
            <a:solidFill>
              <a:srgbClr val="2A3A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4" name="Google Shape;294;p9"/>
          <p:cNvSpPr/>
          <p:nvPr/>
        </p:nvSpPr>
        <p:spPr>
          <a:xfrm>
            <a:off x="502920" y="3227832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777356" y="3063261"/>
            <a:ext cx="3931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Outdated-information rate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4709160" y="3145536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9"/>
          <p:cNvCxnSpPr/>
          <p:nvPr/>
        </p:nvCxnSpPr>
        <p:spPr>
          <a:xfrm>
            <a:off x="502920" y="3657600"/>
            <a:ext cx="8138160" cy="0"/>
          </a:xfrm>
          <a:prstGeom prst="straightConnector1">
            <a:avLst/>
          </a:prstGeom>
          <a:noFill/>
          <a:ln w="9525" cap="flat" cmpd="sng">
            <a:solidFill>
              <a:srgbClr val="2A3A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8" name="Google Shape;298;p9"/>
          <p:cNvSpPr/>
          <p:nvPr/>
        </p:nvSpPr>
        <p:spPr>
          <a:xfrm>
            <a:off x="502920" y="3794760"/>
            <a:ext cx="109728" cy="109728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777356" y="3630164"/>
            <a:ext cx="39318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trust / usefulness score in simulated scenarios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4709160" y="3712464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 simple shared judging framework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No matter which project you pick, I'd score it on these 6 dimensions: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274320" y="1078992"/>
            <a:ext cx="2743200" cy="1536192"/>
          </a:xfrm>
          <a:prstGeom prst="rect">
            <a:avLst/>
          </a:prstGeom>
          <a:solidFill>
            <a:srgbClr val="16213E"/>
          </a:solidFill>
          <a:ln w="12700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274320" y="1078992"/>
            <a:ext cx="45720" cy="1536192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411480" y="122529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411480" y="171907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Community value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411480" y="208483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does it solve a real public problem?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3227832" y="1078992"/>
            <a:ext cx="2743200" cy="1536192"/>
          </a:xfrm>
          <a:prstGeom prst="rect">
            <a:avLst/>
          </a:prstGeom>
          <a:solidFill>
            <a:srgbClr val="16213E"/>
          </a:solidFill>
          <a:ln w="12700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3227832" y="1078992"/>
            <a:ext cx="45720" cy="1536192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3364992" y="122529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3364992" y="171907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Grounded accuracy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3364992" y="208483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are outputs faithful to sources?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6181344" y="1078992"/>
            <a:ext cx="2743200" cy="1536192"/>
          </a:xfrm>
          <a:prstGeom prst="rect">
            <a:avLst/>
          </a:prstGeom>
          <a:solidFill>
            <a:srgbClr val="16213E"/>
          </a:solidFill>
          <a:ln w="12700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6181344" y="1078992"/>
            <a:ext cx="45720" cy="1536192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6318504" y="122529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6318504" y="171907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Actionability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6318504" y="208483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can users do something useful immediately?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274320" y="2816352"/>
            <a:ext cx="2743200" cy="1536192"/>
          </a:xfrm>
          <a:prstGeom prst="rect">
            <a:avLst/>
          </a:prstGeom>
          <a:solidFill>
            <a:srgbClr val="16213E"/>
          </a:solidFill>
          <a:ln w="12700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274320" y="2816352"/>
            <a:ext cx="45720" cy="1536192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411480" y="296265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411480" y="345643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Safety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411480" y="382219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does it avoid harmful/confidently wrong advice?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3227832" y="2816352"/>
            <a:ext cx="2743200" cy="1536192"/>
          </a:xfrm>
          <a:prstGeom prst="rect">
            <a:avLst/>
          </a:prstGeom>
          <a:solidFill>
            <a:srgbClr val="16213E"/>
          </a:solidFill>
          <a:ln w="12700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3227832" y="2816352"/>
            <a:ext cx="45720" cy="1536192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3364992" y="296265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3364992" y="345643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Equity/accessibility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3364992" y="382219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is it usable by non-experts and low-resource users?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6181344" y="2816352"/>
            <a:ext cx="2743200" cy="1536192"/>
          </a:xfrm>
          <a:prstGeom prst="rect">
            <a:avLst/>
          </a:prstGeom>
          <a:solidFill>
            <a:srgbClr val="16213E"/>
          </a:solidFill>
          <a:ln w="12700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6181344" y="2816352"/>
            <a:ext cx="45720" cy="1536192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6318504" y="296265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6318504" y="345643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Operational efficiency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6318504" y="3822192"/>
            <a:ext cx="2514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latency, throughput, and cost per task.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5b870519b_1_4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d5b870519b_1_4"/>
          <p:cNvSpPr/>
          <p:nvPr/>
        </p:nvSpPr>
        <p:spPr>
          <a:xfrm>
            <a:off x="0" y="5088636"/>
            <a:ext cx="9144000" cy="54900"/>
          </a:xfrm>
          <a:prstGeom prst="rect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d5b870519b_1_4"/>
          <p:cNvSpPr/>
          <p:nvPr/>
        </p:nvSpPr>
        <p:spPr>
          <a:xfrm>
            <a:off x="457200" y="109728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Criteria &amp; Prizes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d5b870519b_1_4"/>
          <p:cNvSpPr/>
          <p:nvPr/>
        </p:nvSpPr>
        <p:spPr>
          <a:xfrm>
            <a:off x="274320" y="713232"/>
            <a:ext cx="4160400" cy="157290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d5b870519b_1_4"/>
          <p:cNvSpPr/>
          <p:nvPr/>
        </p:nvSpPr>
        <p:spPr>
          <a:xfrm>
            <a:off x="457200" y="795528"/>
            <a:ext cx="37947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Criteria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d5b870519b_1_4"/>
          <p:cNvSpPr/>
          <p:nvPr/>
        </p:nvSpPr>
        <p:spPr>
          <a:xfrm>
            <a:off x="457200" y="1179576"/>
            <a:ext cx="109800" cy="109800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d5b870519b_1_4"/>
          <p:cNvSpPr/>
          <p:nvPr/>
        </p:nvSpPr>
        <p:spPr>
          <a:xfrm>
            <a:off x="658368" y="1033130"/>
            <a:ext cx="36120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Innovation, timelines etc.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d5b870519b_1_4"/>
          <p:cNvSpPr/>
          <p:nvPr/>
        </p:nvSpPr>
        <p:spPr>
          <a:xfrm>
            <a:off x="457200" y="1581912"/>
            <a:ext cx="109800" cy="109800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d5b870519b_1_4"/>
          <p:cNvSpPr/>
          <p:nvPr/>
        </p:nvSpPr>
        <p:spPr>
          <a:xfrm>
            <a:off x="658368" y="1435541"/>
            <a:ext cx="36120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Presentation — Lines of code, Github, YT video etc.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d5b870519b_1_4"/>
          <p:cNvSpPr/>
          <p:nvPr/>
        </p:nvSpPr>
        <p:spPr>
          <a:xfrm>
            <a:off x="4709160" y="713232"/>
            <a:ext cx="4160400" cy="1572900"/>
          </a:xfrm>
          <a:prstGeom prst="rect">
            <a:avLst/>
          </a:prstGeom>
          <a:solidFill>
            <a:srgbClr val="1A1A2E"/>
          </a:solidFill>
          <a:ln w="12700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d5b870519b_1_4"/>
          <p:cNvSpPr/>
          <p:nvPr/>
        </p:nvSpPr>
        <p:spPr>
          <a:xfrm>
            <a:off x="4892040" y="795528"/>
            <a:ext cx="37947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Prizes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d5b870519b_1_4"/>
          <p:cNvSpPr/>
          <p:nvPr/>
        </p:nvSpPr>
        <p:spPr>
          <a:xfrm>
            <a:off x="4892040" y="1179576"/>
            <a:ext cx="109800" cy="109800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d5b870519b_1_4"/>
          <p:cNvSpPr/>
          <p:nvPr/>
        </p:nvSpPr>
        <p:spPr>
          <a:xfrm>
            <a:off x="5074920" y="1042468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Top 3 winners to receive Amazon vouchers and NVIDIA swags.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d5b870519b_1_4"/>
          <p:cNvSpPr/>
          <p:nvPr/>
        </p:nvSpPr>
        <p:spPr>
          <a:xfrm>
            <a:off x="4892040" y="1581912"/>
            <a:ext cx="109800" cy="109800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d5b870519b_1_4"/>
          <p:cNvSpPr/>
          <p:nvPr/>
        </p:nvSpPr>
        <p:spPr>
          <a:xfrm>
            <a:off x="5074920" y="1440191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2 Runners up to receive Swags.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d5b870519b_1_4"/>
          <p:cNvSpPr/>
          <p:nvPr/>
        </p:nvSpPr>
        <p:spPr>
          <a:xfrm>
            <a:off x="4892040" y="1984248"/>
            <a:ext cx="109800" cy="109800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d5b870519b_1_4"/>
          <p:cNvSpPr/>
          <p:nvPr/>
        </p:nvSpPr>
        <p:spPr>
          <a:xfrm>
            <a:off x="5074920" y="1856202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Contest Ownership: </a:t>
            </a:r>
            <a:r>
              <a:rPr lang="en-US" sz="11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HydPy </a:t>
            </a:r>
            <a:r>
              <a:rPr lang="en-US" sz="11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Community.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d5b870519b_1_4"/>
          <p:cNvSpPr/>
          <p:nvPr/>
        </p:nvSpPr>
        <p:spPr>
          <a:xfrm>
            <a:off x="274320" y="2377440"/>
            <a:ext cx="8595300" cy="2633400"/>
          </a:xfrm>
          <a:prstGeom prst="rect">
            <a:avLst/>
          </a:prstGeom>
          <a:solidFill>
            <a:srgbClr val="0D1A0D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d5b870519b_1_4"/>
          <p:cNvSpPr/>
          <p:nvPr/>
        </p:nvSpPr>
        <p:spPr>
          <a:xfrm>
            <a:off x="502920" y="2468880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76B900"/>
                </a:solidFill>
                <a:latin typeface="Calibri"/>
                <a:ea typeface="Calibri"/>
                <a:cs typeface="Calibri"/>
                <a:sym typeface="Calibri"/>
              </a:rPr>
              <a:t>Conditions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d5b870519b_1_4"/>
          <p:cNvSpPr/>
          <p:nvPr/>
        </p:nvSpPr>
        <p:spPr>
          <a:xfrm>
            <a:off x="411480" y="2852928"/>
            <a:ext cx="292500" cy="292500"/>
          </a:xfrm>
          <a:prstGeom prst="rect">
            <a:avLst/>
          </a:prstGeom>
          <a:solidFill>
            <a:srgbClr val="1A3A0A"/>
          </a:solidFill>
          <a:ln w="9525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d5b870519b_1_4"/>
          <p:cNvSpPr/>
          <p:nvPr/>
        </p:nvSpPr>
        <p:spPr>
          <a:xfrm>
            <a:off x="411480" y="2852928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💻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d5b870519b_1_4"/>
          <p:cNvSpPr/>
          <p:nvPr/>
        </p:nvSpPr>
        <p:spPr>
          <a:xfrm>
            <a:off x="868615" y="2761364"/>
            <a:ext cx="35661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Project must be within the scope shared — hosted on GitHub with architecture diagram 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included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d5b870519b_1_4"/>
          <p:cNvSpPr/>
          <p:nvPr/>
        </p:nvSpPr>
        <p:spPr>
          <a:xfrm>
            <a:off x="4800600" y="2852928"/>
            <a:ext cx="292500" cy="292500"/>
          </a:xfrm>
          <a:prstGeom prst="rect">
            <a:avLst/>
          </a:prstGeom>
          <a:solidFill>
            <a:srgbClr val="1A3A0A"/>
          </a:solidFill>
          <a:ln w="9525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d5b870519b_1_4"/>
          <p:cNvSpPr/>
          <p:nvPr/>
        </p:nvSpPr>
        <p:spPr>
          <a:xfrm>
            <a:off x="4800600" y="2852928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🎥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d5b870519b_1_4"/>
          <p:cNvSpPr/>
          <p:nvPr/>
        </p:nvSpPr>
        <p:spPr>
          <a:xfrm>
            <a:off x="5271630" y="2679264"/>
            <a:ext cx="35661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Record a YouTube demo video and include the link in your submission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d5b870519b_1_4"/>
          <p:cNvSpPr/>
          <p:nvPr/>
        </p:nvSpPr>
        <p:spPr>
          <a:xfrm>
            <a:off x="411480" y="3447288"/>
            <a:ext cx="292500" cy="292500"/>
          </a:xfrm>
          <a:prstGeom prst="rect">
            <a:avLst/>
          </a:prstGeom>
          <a:solidFill>
            <a:srgbClr val="1A3A0A"/>
          </a:solidFill>
          <a:ln w="9525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d5b870519b_1_4"/>
          <p:cNvSpPr/>
          <p:nvPr/>
        </p:nvSpPr>
        <p:spPr>
          <a:xfrm>
            <a:off x="411480" y="3447288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✍️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d5b870519b_1_4"/>
          <p:cNvSpPr/>
          <p:nvPr/>
        </p:nvSpPr>
        <p:spPr>
          <a:xfrm>
            <a:off x="868615" y="3328362"/>
            <a:ext cx="35661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Write a blog post about your project on medium and share it across your social platforms ( LinkedIn)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d5b870519b_1_4"/>
          <p:cNvSpPr/>
          <p:nvPr/>
        </p:nvSpPr>
        <p:spPr>
          <a:xfrm>
            <a:off x="4800600" y="3447288"/>
            <a:ext cx="292500" cy="292500"/>
          </a:xfrm>
          <a:prstGeom prst="rect">
            <a:avLst/>
          </a:prstGeom>
          <a:solidFill>
            <a:srgbClr val="1A3A0A"/>
          </a:solidFill>
          <a:ln w="9525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d5b870519b_1_4"/>
          <p:cNvSpPr/>
          <p:nvPr/>
        </p:nvSpPr>
        <p:spPr>
          <a:xfrm>
            <a:off x="4800600" y="3447288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📢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d5b870519b_1_4"/>
          <p:cNvSpPr/>
          <p:nvPr/>
        </p:nvSpPr>
        <p:spPr>
          <a:xfrm>
            <a:off x="5231835" y="3371787"/>
            <a:ext cx="35661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CCCCCC"/>
              </a:buClr>
              <a:buSzPts val="1100"/>
            </a:pPr>
            <a:r>
              <a:rPr lang="en-US" sz="1100" b="0" i="0" u="none" strike="noStrike" cap="none" dirty="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Tag #NVIDIA #Nemotron </a:t>
            </a:r>
            <a:r>
              <a:rPr lang="en-US" sz="1100" dirty="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#HydPy  @ Hyderabad Python User Group  @Kavita Aroor</a:t>
            </a:r>
            <a:r>
              <a:rPr lang="en-US" sz="1100" b="0" i="0" u="none" strike="noStrike" cap="none" dirty="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— call out the meetup on social media in your posts . Share th</a:t>
            </a:r>
            <a:r>
              <a:rPr lang="en-US" sz="1100" dirty="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 post link on  </a:t>
            </a:r>
            <a:r>
              <a:rPr lang="en-US" sz="1100" dirty="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https://forms.gle/E3TP4pUdMSaBfzKr5</a:t>
            </a:r>
            <a:r>
              <a:rPr lang="en-US" sz="1100" dirty="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. In case of any query kindly write to  </a:t>
            </a:r>
            <a:r>
              <a:rPr lang="en-US" sz="1100" dirty="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bpkapkar@gmail.com</a:t>
            </a:r>
            <a:r>
              <a:rPr lang="en-US" sz="1100" dirty="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dirty="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|kalyanprsd@gmail.com</a:t>
            </a:r>
            <a:r>
              <a:rPr lang="en-US" sz="1100" dirty="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| </a:t>
            </a:r>
            <a:r>
              <a:rPr lang="en-US" sz="11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contact@hydpy.org</a:t>
            </a:r>
            <a:r>
              <a:rPr lang="en-US" sz="1100" dirty="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d5b870519b_1_4"/>
          <p:cNvSpPr/>
          <p:nvPr/>
        </p:nvSpPr>
        <p:spPr>
          <a:xfrm>
            <a:off x="457200" y="1979687"/>
            <a:ext cx="109800" cy="109800"/>
          </a:xfrm>
          <a:prstGeom prst="ellipse">
            <a:avLst/>
          </a:prstGeom>
          <a:solidFill>
            <a:srgbClr val="76B900"/>
          </a:solidFill>
          <a:ln w="1270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d5b870519b_1_4"/>
          <p:cNvSpPr/>
          <p:nvPr/>
        </p:nvSpPr>
        <p:spPr>
          <a:xfrm>
            <a:off x="658368" y="1952216"/>
            <a:ext cx="36120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Timelines- 1</a:t>
            </a:r>
            <a:r>
              <a:rPr lang="en-US" sz="1200" b="0" i="0" u="none" strike="noStrike" cap="none" baseline="30000" dirty="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en-US" sz="1200" b="0" i="0" u="none" strike="noStrike" cap="none" dirty="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 June</a:t>
            </a:r>
            <a:r>
              <a:rPr lang="en-US" sz="1200" dirty="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2026.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endParaRPr sz="1100" b="0" i="0" u="none" strike="noStrike" cap="none" dirty="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1268</Words>
  <Application>Microsoft Office PowerPoint</Application>
  <PresentationFormat>On-screen Show (16:9)</PresentationFormat>
  <Paragraphs>159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Bhushan Kapkar</cp:lastModifiedBy>
  <cp:revision>3</cp:revision>
  <dcterms:created xsi:type="dcterms:W3CDTF">2026-04-13T09:05:18Z</dcterms:created>
  <dcterms:modified xsi:type="dcterms:W3CDTF">2026-05-19T19:55:05Z</dcterms:modified>
</cp:coreProperties>
</file>